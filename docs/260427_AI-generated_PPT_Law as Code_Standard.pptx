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7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4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4802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371600"/>
            <a:ext cx="640080" cy="0"/>
          </a:xfrm>
          <a:prstGeom prst="line">
            <a:avLst/>
          </a:prstGeom>
          <a:noFill/>
          <a:ln w="31750">
            <a:solidFill>
              <a:srgbClr val="B8763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160020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rgbClr val="F8F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Vom Paragraphen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F8F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zum Algorithmus.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33832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F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wir das Berner Gesetz über die Ausbildungsbeiträge</a:t>
            </a:r>
            <a:endParaRPr lang="en-US" sz="1800" dirty="0"/>
          </a:p>
          <a:p>
            <a:pPr marL="0" indent="0">
              <a:buNone/>
            </a:pPr>
            <a:r>
              <a:rPr lang="en-US" sz="1800" i="1" dirty="0">
                <a:solidFill>
                  <a:srgbClr val="EF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48 Stunden ausführbar gemacht haben.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8FA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Legal Informatics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Heute: Gesetz ist Text — Berechnung ist Handarbeit.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9319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EC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777240" y="1463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87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15 Abs. 1 ABG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„Stipendien werden nur gewährt, soweit die Mittel der Auszubildenden und ihrer Eltern für die Ausbildung nicht ausreichen.“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3886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ABG, Kanton Bern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3776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 zur Verfügung: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937760" y="1892808"/>
            <a:ext cx="164592" cy="164592"/>
          </a:xfrm>
          <a:prstGeom prst="ellipse">
            <a:avLst/>
          </a:prstGeom>
          <a:solidFill>
            <a:srgbClr val="B8763E"/>
          </a:solidFill>
          <a:ln w="12700">
            <a:solidFill>
              <a:srgbClr val="B8763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5212080" y="18288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Sachbearbeiter:in liest, legt aus, rechnet.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937760" y="2487168"/>
            <a:ext cx="164592" cy="164592"/>
          </a:xfrm>
          <a:prstGeom prst="ellipse">
            <a:avLst/>
          </a:prstGeom>
          <a:solidFill>
            <a:srgbClr val="B8763E"/>
          </a:solidFill>
          <a:ln w="12700">
            <a:solidFill>
              <a:srgbClr val="B8763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5212080" y="24231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und Rechner — pro Fall einzeln.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937760" y="3081528"/>
            <a:ext cx="164592" cy="164592"/>
          </a:xfrm>
          <a:prstGeom prst="ellipse">
            <a:avLst/>
          </a:prstGeom>
          <a:solidFill>
            <a:srgbClr val="B8763E"/>
          </a:solidFill>
          <a:ln w="12700">
            <a:solidFill>
              <a:srgbClr val="B8763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5212080" y="30175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Auslegung variiert je nach Person und Tag.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937760" y="3675888"/>
            <a:ext cx="164592" cy="164592"/>
          </a:xfrm>
          <a:prstGeom prst="ellipse">
            <a:avLst/>
          </a:prstGeom>
          <a:solidFill>
            <a:srgbClr val="B8763E"/>
          </a:solidFill>
          <a:ln w="12700">
            <a:solidFill>
              <a:srgbClr val="B8763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5212080" y="3611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 erst nach Wochen für die Familie.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Unser Ansatz: das Gesetz selber in den Computer bringen.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eine Maschine, die das Recht ‚versteht‘ — sondern jede einzelne Regel als kleines, lesbares Stück Logik. Mit Quellenangabe.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4688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EC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1417320" y="2286000"/>
            <a:ext cx="731520" cy="731520"/>
          </a:xfrm>
          <a:prstGeom prst="ellipse">
            <a:avLst/>
          </a:prstGeom>
          <a:solidFill>
            <a:srgbClr val="EFE2D0"/>
          </a:solidFill>
          <a:ln w="12700">
            <a:solidFill>
              <a:srgbClr val="EFE2D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4830" y="2483510"/>
            <a:ext cx="336499" cy="33649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154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Gesetzestext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36576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1–3, 6–10, 12–16 ABG. Original. Verbindlich.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37560" y="2011680"/>
            <a:ext cx="24688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EC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Shape 7"/>
          <p:cNvSpPr/>
          <p:nvPr/>
        </p:nvSpPr>
        <p:spPr>
          <a:xfrm>
            <a:off x="4206240" y="2286000"/>
            <a:ext cx="731520" cy="731520"/>
          </a:xfrm>
          <a:prstGeom prst="ellipse">
            <a:avLst/>
          </a:prstGeom>
          <a:solidFill>
            <a:srgbClr val="EFE2D0"/>
          </a:solidFill>
          <a:ln w="12700">
            <a:solidFill>
              <a:srgbClr val="EFE2D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3750" y="2483510"/>
            <a:ext cx="336499" cy="33649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74720" y="3154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Regel-Bibliothek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3611880" y="36576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Artikel eine kleine, prüfbare Funktion. Mit Referenz auf den Paragraphen.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26480" y="2011680"/>
            <a:ext cx="24688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EC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Shape 11"/>
          <p:cNvSpPr/>
          <p:nvPr/>
        </p:nvSpPr>
        <p:spPr>
          <a:xfrm>
            <a:off x="6995160" y="2286000"/>
            <a:ext cx="731520" cy="731520"/>
          </a:xfrm>
          <a:prstGeom prst="ellipse">
            <a:avLst/>
          </a:prstGeom>
          <a:solidFill>
            <a:srgbClr val="EFE2D0"/>
          </a:solidFill>
          <a:ln w="12700">
            <a:solidFill>
              <a:srgbClr val="EFE2D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2670" y="2483510"/>
            <a:ext cx="336499" cy="33649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63640" y="3154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Berechnung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6400800" y="36576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Eingabe: Person und Ausbildung. Ausgabe: Anspruch + Betrag — sofort.</a:t>
            </a:r>
            <a:endParaRPr lang="en-US" sz="12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35808" y="3099816"/>
            <a:ext cx="292608" cy="292608"/>
          </a:xfrm>
          <a:prstGeom prst="rect">
            <a:avLst/>
          </a:prstGeom>
        </p:spPr>
      </p:pic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4728" y="3099816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Ein Artikel — eine überprüfbare Regel.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Beispiele aus dem ABG. Links der Paragraph, rechts die Regel — Klartext, kein Code.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804672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640080" y="1673352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B87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14 Abs.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057400" y="1673352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Beiträge insgesamt höchstens 12 Ausbildungsjahre.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1801368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0" y="1673352"/>
            <a:ext cx="2880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Wenn bisherige Beitragsjahre &lt; 12, dann zulässig.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2386584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B87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14 Abs. 4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057400" y="2386584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 35. Altersjahr grundsätzlich kein Anspruch.</a:t>
            </a:r>
            <a:endParaRPr lang="en-US" sz="12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251460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0" y="2386584"/>
            <a:ext cx="2880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Wenn Alter &lt; 35 ODER Wiedereinstieg / wichtige Gründe → ok.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3026664"/>
            <a:ext cx="804672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0"/>
          <p:cNvSpPr/>
          <p:nvPr/>
        </p:nvSpPr>
        <p:spPr>
          <a:xfrm>
            <a:off x="640080" y="3099816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B87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10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057400" y="3099816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Tertiärstufe: ab dem 4. Jahr nur 2/3 als Stipendium.</a:t>
            </a:r>
            <a:endParaRPr lang="en-US" sz="12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3227832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669280" y="3099816"/>
            <a:ext cx="2880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Wenn Tertiärstufe und Jahr &gt; 3 → Faktor 0.667 auf den Bedarf.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40080" y="3813048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B87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15 Abs. 2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2057400" y="3813048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Verzicht auf Anrechnung elterlicher Mittel.</a:t>
            </a:r>
            <a:endParaRPr lang="en-US" sz="12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3941064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669280" y="3813048"/>
            <a:ext cx="2880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Wenn Alter ≥ 25 ODER ≥ 4 Jahre Vollerwerbstätigkeit → Verzicht.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Lara, 18, Lernende in Bern.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Eingaben links, Berechnung rechts — automatisch, in Sekunden.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9319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EC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EFE2D0"/>
          </a:solidFill>
          <a:ln w="12700">
            <a:solidFill>
              <a:srgbClr val="EFE2D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373" y="1931213"/>
            <a:ext cx="252374" cy="2523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74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B87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EINGABE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24231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Wohnsitz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377440" y="24231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Kanton Bern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77240" y="277063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Ausbildung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377440" y="27706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Erstausbildung, Sek II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7240" y="311810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Aktuelles Jahr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377440" y="311810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Lehrjahr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77240" y="346557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Anerk. Kosten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377440" y="346557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CHF 18'000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77240" y="381304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 Mittel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377440" y="38130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CHF 2'000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77240" y="41605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Eltern Mittel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2377440" y="41605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CHF 5'000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663440" y="1554480"/>
            <a:ext cx="3931920" cy="3108960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8"/>
          <p:cNvSpPr/>
          <p:nvPr/>
        </p:nvSpPr>
        <p:spPr>
          <a:xfrm>
            <a:off x="4892040" y="1783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B87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892040" y="2148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Stipendien­anspruch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4892040" y="24688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8F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</a:t>
            </a:r>
            <a:endParaRPr lang="en-US" sz="4400" dirty="0"/>
          </a:p>
        </p:txBody>
      </p:sp>
      <p:sp>
        <p:nvSpPr>
          <p:cNvPr id="24" name="Text 21"/>
          <p:cNvSpPr/>
          <p:nvPr/>
        </p:nvSpPr>
        <p:spPr>
          <a:xfrm>
            <a:off x="4892040" y="3246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Stipendienbetrag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892040" y="35204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8F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CHF 11'000</a:t>
            </a:r>
            <a:endParaRPr lang="en-US" sz="3600" dirty="0"/>
          </a:p>
        </p:txBody>
      </p:sp>
      <p:sp>
        <p:nvSpPr>
          <p:cNvPr id="26" name="Text 23"/>
          <p:cNvSpPr/>
          <p:nvPr/>
        </p:nvSpPr>
        <p:spPr>
          <a:xfrm>
            <a:off x="4892040" y="4251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87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Berechnung: 0,3 Sekunden  ·  jeder Schritt zeigt seinen Artikel.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Drei Dinge, die plötzlich anders sind.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26060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EC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1417320" y="1737360"/>
            <a:ext cx="777240" cy="777240"/>
          </a:xfrm>
          <a:prstGeom prst="ellipse">
            <a:avLst/>
          </a:prstGeom>
          <a:solidFill>
            <a:srgbClr val="EFE2D0"/>
          </a:solidFill>
          <a:ln w="12700">
            <a:solidFill>
              <a:srgbClr val="EFE2D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7175" y="1947215"/>
            <a:ext cx="357530" cy="3575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26974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Nachvollziehbar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315468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Zahl in der Verfügung trägt ihren Artikel. Beschwerde­führer und Behörde sehen denselben Rechenweg.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268980" y="1371600"/>
            <a:ext cx="26060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EC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Shape 6"/>
          <p:cNvSpPr/>
          <p:nvPr/>
        </p:nvSpPr>
        <p:spPr>
          <a:xfrm>
            <a:off x="4183380" y="1737360"/>
            <a:ext cx="777240" cy="777240"/>
          </a:xfrm>
          <a:prstGeom prst="ellipse">
            <a:avLst/>
          </a:prstGeom>
          <a:solidFill>
            <a:srgbClr val="EFE2D0"/>
          </a:solidFill>
          <a:ln w="12700">
            <a:solidFill>
              <a:srgbClr val="EFE2D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3235" y="1947215"/>
            <a:ext cx="357530" cy="3575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51860" y="26974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Versioniert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3543300" y="315468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Gesetzesänderung wird zum sauberen Diff. „Welcher Stand galt am 1.1.2023?“ ist eine Sekunden­frage.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035040" y="1371600"/>
            <a:ext cx="26060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EC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Shape 10"/>
          <p:cNvSpPr/>
          <p:nvPr/>
        </p:nvSpPr>
        <p:spPr>
          <a:xfrm>
            <a:off x="6949440" y="1737360"/>
            <a:ext cx="777240" cy="777240"/>
          </a:xfrm>
          <a:prstGeom prst="ellipse">
            <a:avLst/>
          </a:prstGeom>
          <a:solidFill>
            <a:srgbClr val="EFE2D0"/>
          </a:solidFill>
          <a:ln w="12700">
            <a:solidFill>
              <a:srgbClr val="EFE2D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9295" y="1947215"/>
            <a:ext cx="357530" cy="35753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17920" y="26974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Testbar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6309360" y="315468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Hunderte Konstellationen in Sekunden geprüft. Edge Cases werden sichtbar, bevor jemand klagt.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wir nicht behaupten.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Damit klar ist, worüber wir reden — und worüber nicht.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37360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6916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Ersetzt keine juristische Auslegung.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97280" y="21031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Unbestimmte Rechtsbegriffe und „wichtige Gründe“ bleiben Auslegungssache. Wir machen sie sichtbar — wir entscheiden sie nicht.</a:t>
            </a:r>
            <a:endParaRPr lang="en-US" sz="12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88920"/>
            <a:ext cx="384048" cy="3840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27432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Trifft keine Ermessens­entscheidungen.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1097280" y="31546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 das Gesetz Spielraum lässt, lässt der Code Spielraum — als ausdrücklichen Eingabe-Parameter.</a:t>
            </a:r>
            <a:endParaRPr lang="en-US" sz="12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40480"/>
            <a:ext cx="384048" cy="38404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7280" y="37947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Macht das Gesetz nicht selbst klüger.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1097280" y="42062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Wenn der Paragraph mehrdeutig ist, ist der Code mehrdeutig. Aber: Die Mehrdeutigkeit ist dann dokumentiert.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640080" cy="0"/>
          </a:xfrm>
          <a:prstGeom prst="line">
            <a:avLst/>
          </a:prstGeom>
          <a:noFill/>
          <a:ln w="31750">
            <a:solidFill>
              <a:srgbClr val="B8763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als Nächstes.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65760" cy="365760"/>
          </a:xfrm>
          <a:prstGeom prst="ellipse">
            <a:avLst/>
          </a:prstGeom>
          <a:solidFill>
            <a:srgbClr val="B8763E"/>
          </a:solidFill>
          <a:ln w="12700">
            <a:solidFill>
              <a:srgbClr val="B8763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18745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Mehr Recht erschliessen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51560" y="225856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Skalierung auf weitere kantonale Stipendien­ordnungen — und auf andere Sozialleistungen.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365760" cy="365760"/>
          </a:xfrm>
          <a:prstGeom prst="ellipse">
            <a:avLst/>
          </a:prstGeom>
          <a:solidFill>
            <a:srgbClr val="B8763E"/>
          </a:solidFill>
          <a:ln w="12700">
            <a:solidFill>
              <a:srgbClr val="B8763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54864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7889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die Verwaltung bringen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51560" y="317296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mit Online-Rechnern für Bürgerinnen und mit Sachbearbeiter-Werkzeugen.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49040"/>
            <a:ext cx="365760" cy="365760"/>
          </a:xfrm>
          <a:prstGeom prst="ellipse">
            <a:avLst/>
          </a:prstGeom>
          <a:solidFill>
            <a:srgbClr val="B8763E"/>
          </a:solidFill>
          <a:ln w="12700">
            <a:solidFill>
              <a:srgbClr val="B8763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548640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37033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Source halten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51560" y="408736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Tests und Dokumentation sind öffentlich. Mitlesen, prüfen, mitarbeiten — willkommen.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4617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B87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Gesetze als Code — kein Ersatz, sondern eine Lupe.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602</Words>
  <Application>Microsoft Macintosh PowerPoint</Application>
  <PresentationFormat>On-screen Show (16:9)</PresentationFormat>
  <Paragraphs>91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Vom Paragraphen zum Algorithmus</dc:title>
  <dc:subject>PptxGenJS Presentation</dc:subject>
  <dc:creator>Hackathon Legal Informatics</dc:creator>
  <cp:lastModifiedBy>Walid S. Ahmed</cp:lastModifiedBy>
  <cp:revision>1</cp:revision>
  <dcterms:created xsi:type="dcterms:W3CDTF">2026-04-27T06:46:13Z</dcterms:created>
  <dcterms:modified xsi:type="dcterms:W3CDTF">2026-04-27T09:01:33Z</dcterms:modified>
</cp:coreProperties>
</file>