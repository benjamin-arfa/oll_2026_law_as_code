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hteck 6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Mastertitelformat bearbeiten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183280" y="457200"/>
            <a:ext cx="6171120" cy="567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Mastertextformat bearbeiten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40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Mastertextformat bearbeiten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19BF0B1E-DC8B-46C8-8A9B-B59FF0554CDB}" type="slidenum">
              <a: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Mastertitelformat bearbeiten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183280" y="457200"/>
            <a:ext cx="6171120" cy="568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Bild durch Klicken auf Symbol hinzufügen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408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Mastertextformat bearbeiten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920BF768-27AD-4CA2-8306-3AF217E73DAC}" type="slidenum">
              <a: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6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1078920"/>
            <a:ext cx="10514520" cy="61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Mastertitelformat bearbeiten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1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Mastertextformat bearbeiten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91B7F692-8D0F-4336-913F-2CE9A0C1F1C0}" type="slidenum">
              <a: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6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000" cy="58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Mastertitelformat bearbeiten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160" cy="58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Mastertextformat bearbeiten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5E87CD7B-D3D8-4F9C-BF0E-CDF4085009A2}" type="slidenum">
              <a: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enutzerdefiniertes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hteck 6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95160" y="17438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3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Mastertitelformat bearbeiten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6" hidden="1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0800" y="3502800"/>
            <a:ext cx="5676840" cy="18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Click to add new Section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Click to edit the outline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Second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DE" sz="12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Third Outline Level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Fourth Outline Level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hteck 6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body"/>
          </p:nvPr>
        </p:nvSpPr>
        <p:spPr>
          <a:xfrm>
            <a:off x="3225240" y="1406520"/>
            <a:ext cx="8038080" cy="49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212121"/>
              </a:buClr>
              <a:buFont typeface="Wingdings" charset="2"/>
              <a:buChar char="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to add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Box 3"/>
          <p:cNvSpPr/>
          <p:nvPr/>
        </p:nvSpPr>
        <p:spPr>
          <a:xfrm>
            <a:off x="748800" y="1275480"/>
            <a:ext cx="217620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CH" sz="2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Agenda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&amp; Untertitel &amp;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6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749160" y="1728000"/>
            <a:ext cx="10514520" cy="30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Untertitel Roboto Regular 20 Pt.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48800" y="1188000"/>
            <a:ext cx="10514520" cy="46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Titel Roboto Regular 28 Pt.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749160" y="2160000"/>
            <a:ext cx="10514520" cy="415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Fliesstext Roboto Regular 18 Pt. - </a:t>
            </a: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to add Text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Fourth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Fifth level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 6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body"/>
          </p:nvPr>
        </p:nvSpPr>
        <p:spPr>
          <a:xfrm>
            <a:off x="749160" y="1188000"/>
            <a:ext cx="10514520" cy="512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Fliesstext Roboto Regular 18 Pt. - </a:t>
            </a: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to add Text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Fourth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Fifth level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&amp; Untertitel &amp; 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hteck 6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749160" y="2182680"/>
            <a:ext cx="5180400" cy="412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Mastertextformat bearbeiten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172200" y="2182680"/>
            <a:ext cx="5180400" cy="412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Mastertextformat bearbeiten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749160" y="1188000"/>
            <a:ext cx="10603440" cy="39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Titel Roboto Regular 28 Pt.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748800" y="1728000"/>
            <a:ext cx="10603440" cy="30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Untertitel Roboto Bold 20 Pt.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&amp;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hteck 6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body"/>
          </p:nvPr>
        </p:nvSpPr>
        <p:spPr>
          <a:xfrm>
            <a:off x="749160" y="1188000"/>
            <a:ext cx="10514520" cy="4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Titel Roboto Regular 28 Pt.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49160" y="1728000"/>
            <a:ext cx="10514520" cy="458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Fliesstext Roboto Regular 18 Pt. - </a:t>
            </a: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to add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Fourth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Fifth level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hteck 6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nk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 6" hidden="1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  <p:sp>
        <p:nvSpPr>
          <p:cNvPr id="53" name="TextBox 3"/>
          <p:cNvSpPr/>
          <p:nvPr/>
        </p:nvSpPr>
        <p:spPr>
          <a:xfrm>
            <a:off x="748800" y="3502800"/>
            <a:ext cx="5676120" cy="18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CH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Vielen Dank für Ihre Aufmerksamkeit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&amp; Text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hteck 6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749160" y="1188000"/>
            <a:ext cx="10514520" cy="4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Titel Roboto Regular 28 Pt.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749160" y="1728000"/>
            <a:ext cx="10514520" cy="458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Fliesstext Roboto Regular 18 Pt. - </a:t>
            </a: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to add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Fourth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21212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Fifth level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hteck 6" hidden="1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748800" y="2409840"/>
            <a:ext cx="10514520" cy="81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4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Titel Roboto Bold 48 Pt.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48800" y="3501720"/>
            <a:ext cx="10514520" cy="2135160"/>
          </a:xfrm>
          <a:prstGeom prst="rect">
            <a:avLst/>
          </a:prstGeom>
          <a:noFill/>
          <a:ln w="0">
            <a:noFill/>
          </a:ln>
        </p:spPr>
        <p:txBody>
          <a:bodyPr lIns="91440" rIns="90000" tIns="9000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Click to add Text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748800" y="2409840"/>
            <a:ext cx="10514520" cy="81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4800" strike="noStrike" u="none">
                <a:solidFill>
                  <a:schemeClr val="lt1"/>
                </a:solidFill>
                <a:effectLst/>
                <a:uFillTx/>
                <a:latin typeface="Roboto"/>
              </a:rPr>
              <a:t>Law as code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748800" y="3501720"/>
            <a:ext cx="10514520" cy="2135160"/>
          </a:xfrm>
          <a:prstGeom prst="rect">
            <a:avLst/>
          </a:prstGeom>
          <a:noFill/>
          <a:ln w="0">
            <a:noFill/>
          </a:ln>
        </p:spPr>
        <p:txBody>
          <a:bodyPr lIns="91440" rIns="90000" tIns="9000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Can we use Large Language Models (LLMs) to automatically transform natural language Swisslaw into verifiable, machine-executable code?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/>
          </p:nvPr>
        </p:nvSpPr>
        <p:spPr>
          <a:xfrm>
            <a:off x="3225240" y="1406520"/>
            <a:ext cx="8038080" cy="49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Definition / Objective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Selected Law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Process Diagram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Output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Outlook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/>
          </p:nvPr>
        </p:nvSpPr>
        <p:spPr>
          <a:xfrm>
            <a:off x="748800" y="1188000"/>
            <a:ext cx="10514520" cy="46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Definition / Objective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749160" y="2160000"/>
            <a:ext cx="10514520" cy="415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CH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Definition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CH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Law as Code (LaC) / Rules as Code (RaC) is the practice of translating existing legislation into machine-executable code, enabling automated and consistent application of legal rules.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CH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Hence our Hypothesis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CH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Can we use Large Language Models (LLMs) to automatically transform natural language Swiss law into verifiable, machine-executable code?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/>
          </p:nvPr>
        </p:nvSpPr>
        <p:spPr>
          <a:xfrm>
            <a:off x="748800" y="1188000"/>
            <a:ext cx="10514520" cy="46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Selected Law Texts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49160" y="2160000"/>
            <a:ext cx="6793920" cy="415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CH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To proof our hypothesis, we choose the following recht guideline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CH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ABG (Ausbildungsbeiträge Bern — Cantonal)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CH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ABG Art. 1-16 — Stipendium Eligibility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CH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ABG Art. 10/16 — Stipendium Amount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CH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AHVG (Federal Old-Age Insurance)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CH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Art. 3 — AHV Insurance Obligation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CH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Art. 5 — AHV Employee Contribution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CH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Art. 10 — AHV Self-Employed Contribution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CH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OR (Code des Obligations)     </a:t>
            </a:r>
            <a:r>
              <a:rPr b="0" lang="de-CH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          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CH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Art. 41 — Tort Liability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/>
          </p:nvPr>
        </p:nvSpPr>
        <p:spPr>
          <a:xfrm>
            <a:off x="748800" y="1188000"/>
            <a:ext cx="10514520" cy="46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Process Scheme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914400" y="2895840"/>
            <a:ext cx="9905760" cy="98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30800" y="3502800"/>
            <a:ext cx="5676840" cy="18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Output / Outlook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/>
          </p:nvPr>
        </p:nvSpPr>
        <p:spPr>
          <a:xfrm>
            <a:off x="749160" y="1188000"/>
            <a:ext cx="10514520" cy="4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Output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6626160" y="1143000"/>
            <a:ext cx="5261040" cy="496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281880" y="2057400"/>
            <a:ext cx="6347520" cy="297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749160" y="1188000"/>
            <a:ext cx="10514520" cy="4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Outlook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914400" y="2057760"/>
            <a:ext cx="6908040" cy="3656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" descr=""/>
          <p:cNvPicPr/>
          <p:nvPr/>
        </p:nvPicPr>
        <p:blipFill>
          <a:blip r:embed="rId2"/>
          <a:stretch/>
        </p:blipFill>
        <p:spPr>
          <a:xfrm>
            <a:off x="7772400" y="2223000"/>
            <a:ext cx="4121280" cy="189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eJustice">
      <a:dk1>
        <a:srgbClr val="212121"/>
      </a:dk1>
      <a:lt1>
        <a:srgbClr val="ffffff"/>
      </a:lt1>
      <a:dk2>
        <a:srgbClr val="38b07d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LibreOffice/25.2.3.2$MacOSX_AARCH64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2026-04-26T16:26:07Z</dcterms:created>
  <dc:creator/>
  <dc:description/>
  <dc:language>en-US</dc:language>
  <cp:lastModifiedBy/>
  <dcterms:modified xsi:type="dcterms:W3CDTF">2026-04-26T17:48:31Z</dcterms:modified>
  <cp:revision>22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6</vt:i4>
  </property>
</Properties>
</file>