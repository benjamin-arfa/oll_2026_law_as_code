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7559675" cy="106918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8e3d9662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Divers, mehrsprachig, sympathisch</a:t>
            </a:r>
            <a:endParaRPr/>
          </a:p>
        </p:txBody>
      </p:sp>
      <p:sp>
        <p:nvSpPr>
          <p:cNvPr id="95" name="Google Shape;95;g3d98e3d9662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77bf9739_0_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77bf9739_0_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77bf9739_0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77bf9739_0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98e3d9662_24_29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98e3d9662_24_29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8e3d9662_24_3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8e3d9662_24_3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98e3d9662_24_3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98e3d9662_24_3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98e3d9662_24_3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98e3d9662_24_3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98e3d9662_24_3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98e3d9662_24_3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8e3d9662_24_3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98e3d9662_24_3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98e3d9662_24_33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98e3d9662_24_33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98e3d9662_1_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98e3d9662_1_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Demo of chatbot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977bf9739_2_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977bf9739_2_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If demo video doesn’t load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98e3d9662_24_34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98e3d9662_24_34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98e3d9662_1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98e3d9662_1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" type="body"/>
          </p:nvPr>
        </p:nvSpPr>
        <p:spPr>
          <a:xfrm>
            <a:off x="748800" y="2409840"/>
            <a:ext cx="10514520" cy="8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2" type="body"/>
          </p:nvPr>
        </p:nvSpPr>
        <p:spPr>
          <a:xfrm>
            <a:off x="748800" y="3501720"/>
            <a:ext cx="10514520" cy="21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0000" wrap="square" tIns="90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3225240" y="1406520"/>
            <a:ext cx="8038080" cy="49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/>
          <p:nvPr/>
        </p:nvSpPr>
        <p:spPr>
          <a:xfrm>
            <a:off x="748800" y="1275480"/>
            <a:ext cx="21762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Agenda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&amp; Untertitel &amp; Text">
  <p:cSld name="Titel &amp; Untertitel &amp; Text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49160" y="1728000"/>
            <a:ext cx="10514520" cy="30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4"/>
          <p:cNvSpPr txBox="1"/>
          <p:nvPr>
            <p:ph idx="2" type="body"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4"/>
          <p:cNvSpPr txBox="1"/>
          <p:nvPr>
            <p:ph idx="3" type="body"/>
          </p:nvPr>
        </p:nvSpPr>
        <p:spPr>
          <a:xfrm>
            <a:off x="749160" y="2160000"/>
            <a:ext cx="10514520" cy="4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nitts-&#10;überschrift">
  <p:cSld name="Abschnitts-&#10;überschrif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730800" y="3502800"/>
            <a:ext cx="5676840" cy="18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&amp; Text">
  <p:cSld name="Titel &amp; Text"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749160" y="1728000"/>
            <a:ext cx="10514520" cy="4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&amp; Text_">
  <p:cSld name="Titel &amp; Text_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749160" y="1728000"/>
            <a:ext cx="10514520" cy="4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nke">
  <p:cSld name="Dank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748800" y="3502800"/>
            <a:ext cx="5676120" cy="182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Vielen Dank für Ihre Aufmerksamkeit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alt mit Überschrift">
  <p:cSld name="Inhalt mit Überschrift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5183280" y="457200"/>
            <a:ext cx="6171120" cy="567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839880" y="2057400"/>
            <a:ext cx="3931200" cy="40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Überschrift">
  <p:cSld name="Bild mit Überschrift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5183280" y="457200"/>
            <a:ext cx="6171120" cy="5685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839880" y="2057400"/>
            <a:ext cx="3931200" cy="4084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vertikaler Text" type="vertTx">
  <p:cSld name="VERTICAL_TEXT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838080" y="1078920"/>
            <a:ext cx="10514520" cy="61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 rot="5400000">
            <a:off x="3936960" y="-1273320"/>
            <a:ext cx="4316760" cy="1051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kaler Titel und Text" type="vertTitleAndTx">
  <p:cSld name="VERTICAL_TITLE_AND_VERTICAL_TEXT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 rot="5400000">
            <a:off x="7137000" y="1953000"/>
            <a:ext cx="580392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 rot="5400000">
            <a:off x="1802700" y="-599580"/>
            <a:ext cx="5803920" cy="77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200"/>
              <a:buFont typeface="Roboto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enutzerdefiniertes Layout">
  <p:cSld name="Benutzerdefiniertes Layout"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695160" y="17438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ext">
  <p:cSld name="nur Text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749160" y="1188000"/>
            <a:ext cx="10514520" cy="51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&amp; Untertitel &amp; Zwei Inhalte">
  <p:cSld name="Titel &amp; Untertitel &amp; Zwei Inhalte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749160" y="2182680"/>
            <a:ext cx="5180400" cy="412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6172200" y="2182680"/>
            <a:ext cx="5180400" cy="412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15"/>
          <p:cNvSpPr txBox="1"/>
          <p:nvPr>
            <p:ph idx="3" type="body"/>
          </p:nvPr>
        </p:nvSpPr>
        <p:spPr>
          <a:xfrm>
            <a:off x="749160" y="1188000"/>
            <a:ext cx="1060344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15"/>
          <p:cNvSpPr txBox="1"/>
          <p:nvPr>
            <p:ph idx="4" type="body"/>
          </p:nvPr>
        </p:nvSpPr>
        <p:spPr>
          <a:xfrm>
            <a:off x="748800" y="1728000"/>
            <a:ext cx="10603440" cy="30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>
  <p:cSld name="Leer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6399720" cy="114408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3.jpg"/><Relationship Id="rId9" Type="http://schemas.openxmlformats.org/officeDocument/2006/relationships/image" Target="../media/image6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4.jpg"/><Relationship Id="rId8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tzUCkdVrnn9aUsjQXqPWYe8o3ny0hozR/view" TargetMode="External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748800" y="2409840"/>
            <a:ext cx="10514520" cy="8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</a:pPr>
            <a:r>
              <a:rPr b="1" lang="de-CH"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&lt;C</a:t>
            </a:r>
            <a:r>
              <a:rPr b="1" lang="de-CH" sz="4800" u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lang="de-CH" sz="4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AW</a:t>
            </a:r>
            <a:r>
              <a:rPr b="1" lang="de-CH"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DE.IA&gt; – Law as Code</a:t>
            </a:r>
            <a:endParaRPr b="0" sz="4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748800" y="3501725"/>
            <a:ext cx="5742600" cy="21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0000" wrap="square" tIns="90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de-C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From article to algorithm – </a:t>
            </a:r>
            <a:br>
              <a:rPr lang="de-C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lang="de-CH" sz="28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 we use </a:t>
            </a:r>
            <a:r>
              <a:rPr lang="de-C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LLMs </a:t>
            </a:r>
            <a:r>
              <a:rPr lang="de-CH" sz="28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de-C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-CH" sz="28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 </a:t>
            </a:r>
            <a:r>
              <a:rPr lang="de-CH"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legal texts</a:t>
            </a:r>
            <a:r>
              <a:rPr lang="de-CH" sz="28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into machine-executable code?</a:t>
            </a:r>
            <a:endParaRPr sz="2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8" title="logo.jpeg"/>
          <p:cNvPicPr preferRelativeResize="0"/>
          <p:nvPr/>
        </p:nvPicPr>
        <p:blipFill rotWithShape="1">
          <a:blip r:embed="rId3">
            <a:alphaModFix/>
          </a:blip>
          <a:srcRect b="30671" l="15104" r="11861" t="24046"/>
          <a:stretch/>
        </p:blipFill>
        <p:spPr>
          <a:xfrm>
            <a:off x="3705950" y="707050"/>
            <a:ext cx="2588526" cy="16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225240" y="1406520"/>
            <a:ext cx="8038080" cy="49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Team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Why? / Problem statement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Why? - Law as Code as a solution?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Definition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Objective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Selected Law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Process 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Results / Output 1 &amp; 2 (+ Demos)</a:t>
            </a:r>
            <a:endParaRPr sz="28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de-CH" sz="2800"/>
              <a:t>Outlook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748800" y="1002627"/>
            <a:ext cx="10514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</a:pPr>
            <a:r>
              <a:rPr b="1" lang="de-CH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endParaRPr b="1" sz="2800" u="none" strike="noStrike">
              <a:solidFill>
                <a:srgbClr val="000000"/>
              </a:solidFill>
            </a:endParaRPr>
          </a:p>
        </p:txBody>
      </p:sp>
      <p:grpSp>
        <p:nvGrpSpPr>
          <p:cNvPr id="98" name="Google Shape;98;p20"/>
          <p:cNvGrpSpPr/>
          <p:nvPr/>
        </p:nvGrpSpPr>
        <p:grpSpPr>
          <a:xfrm>
            <a:off x="748800" y="1507727"/>
            <a:ext cx="2049900" cy="2703500"/>
            <a:chOff x="748800" y="1682175"/>
            <a:chExt cx="2049900" cy="2703500"/>
          </a:xfrm>
        </p:grpSpPr>
        <p:pic>
          <p:nvPicPr>
            <p:cNvPr id="99" name="Google Shape;99;p20" title="1694624749407.jpe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8800" y="1682175"/>
              <a:ext cx="2049900" cy="20496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0" name="Google Shape;100;p20"/>
            <p:cNvSpPr txBox="1"/>
            <p:nvPr/>
          </p:nvSpPr>
          <p:spPr>
            <a:xfrm>
              <a:off x="950550" y="3770075"/>
              <a:ext cx="1646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-CH"/>
                <a:t>Challenge Owner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/>
                <a:t>Walid S. Ahmed</a:t>
              </a:r>
              <a:endParaRPr/>
            </a:p>
          </p:txBody>
        </p:sp>
      </p:grpSp>
      <p:grpSp>
        <p:nvGrpSpPr>
          <p:cNvPr id="101" name="Google Shape;101;p20"/>
          <p:cNvGrpSpPr/>
          <p:nvPr/>
        </p:nvGrpSpPr>
        <p:grpSpPr>
          <a:xfrm>
            <a:off x="4834860" y="1508327"/>
            <a:ext cx="2048400" cy="2702900"/>
            <a:chOff x="4834860" y="1682775"/>
            <a:chExt cx="2048400" cy="2702900"/>
          </a:xfrm>
        </p:grpSpPr>
        <p:pic>
          <p:nvPicPr>
            <p:cNvPr id="102" name="Google Shape;102;p20" title="1625726976697.jpe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4860" y="1682775"/>
              <a:ext cx="2048400" cy="2048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3" name="Google Shape;103;p20"/>
            <p:cNvSpPr txBox="1"/>
            <p:nvPr/>
          </p:nvSpPr>
          <p:spPr>
            <a:xfrm>
              <a:off x="5035860" y="3770075"/>
              <a:ext cx="1646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-CH"/>
                <a:t>Jurist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/>
                <a:t>Metkel Yosief</a:t>
              </a:r>
              <a:endParaRPr/>
            </a:p>
          </p:txBody>
        </p:sp>
      </p:grpSp>
      <p:grpSp>
        <p:nvGrpSpPr>
          <p:cNvPr id="104" name="Google Shape;104;p20"/>
          <p:cNvGrpSpPr/>
          <p:nvPr/>
        </p:nvGrpSpPr>
        <p:grpSpPr>
          <a:xfrm>
            <a:off x="7225821" y="4129332"/>
            <a:ext cx="2048400" cy="2720169"/>
            <a:chOff x="7225821" y="4303781"/>
            <a:chExt cx="2048400" cy="2720169"/>
          </a:xfrm>
        </p:grpSpPr>
        <p:pic>
          <p:nvPicPr>
            <p:cNvPr id="105" name="Google Shape;105;p20" title="1667303839657.jpe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25821" y="4303781"/>
              <a:ext cx="2048400" cy="2048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6" name="Google Shape;106;p20"/>
            <p:cNvSpPr txBox="1"/>
            <p:nvPr/>
          </p:nvSpPr>
          <p:spPr>
            <a:xfrm>
              <a:off x="7426825" y="6408350"/>
              <a:ext cx="1646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-CH"/>
                <a:t>SME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/>
                <a:t>Christophe Koller</a:t>
              </a:r>
              <a:endParaRPr/>
            </a:p>
          </p:txBody>
        </p:sp>
      </p:grpSp>
      <p:grpSp>
        <p:nvGrpSpPr>
          <p:cNvPr id="107" name="Google Shape;107;p20"/>
          <p:cNvGrpSpPr/>
          <p:nvPr/>
        </p:nvGrpSpPr>
        <p:grpSpPr>
          <a:xfrm>
            <a:off x="7225828" y="1508327"/>
            <a:ext cx="2048400" cy="2651138"/>
            <a:chOff x="7225828" y="1682775"/>
            <a:chExt cx="2048400" cy="2651138"/>
          </a:xfrm>
        </p:grpSpPr>
        <p:pic>
          <p:nvPicPr>
            <p:cNvPr id="108" name="Google Shape;108;p20" title="1767265548881.jpeg"/>
            <p:cNvPicPr preferRelativeResize="0"/>
            <p:nvPr/>
          </p:nvPicPr>
          <p:blipFill rotWithShape="1">
            <a:blip r:embed="rId6">
              <a:alphaModFix/>
            </a:blip>
            <a:srcRect b="23582" l="13776" r="10615" t="0"/>
            <a:stretch/>
          </p:blipFill>
          <p:spPr>
            <a:xfrm>
              <a:off x="7225828" y="1682775"/>
              <a:ext cx="2048400" cy="2048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9" name="Google Shape;109;p20"/>
            <p:cNvSpPr txBox="1"/>
            <p:nvPr/>
          </p:nvSpPr>
          <p:spPr>
            <a:xfrm>
              <a:off x="7426828" y="3718313"/>
              <a:ext cx="1646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-CH"/>
                <a:t>Tech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/>
                <a:t>Mariana</a:t>
              </a:r>
              <a:r>
                <a:rPr lang="de-CH"/>
                <a:t> Alves</a:t>
              </a:r>
              <a:endParaRPr/>
            </a:p>
          </p:txBody>
        </p:sp>
      </p:grpSp>
      <p:grpSp>
        <p:nvGrpSpPr>
          <p:cNvPr id="110" name="Google Shape;110;p20"/>
          <p:cNvGrpSpPr/>
          <p:nvPr/>
        </p:nvGrpSpPr>
        <p:grpSpPr>
          <a:xfrm>
            <a:off x="9669725" y="1508327"/>
            <a:ext cx="2048400" cy="2651150"/>
            <a:chOff x="9669725" y="1682775"/>
            <a:chExt cx="2048400" cy="2651150"/>
          </a:xfrm>
        </p:grpSpPr>
        <p:pic>
          <p:nvPicPr>
            <p:cNvPr id="111" name="Google Shape;111;p20" title="1672777117723.jpe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669725" y="1682775"/>
              <a:ext cx="2048400" cy="20484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12" name="Google Shape;112;p20"/>
            <p:cNvSpPr txBox="1"/>
            <p:nvPr/>
          </p:nvSpPr>
          <p:spPr>
            <a:xfrm>
              <a:off x="9870725" y="3718325"/>
              <a:ext cx="1646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de-CH"/>
                <a:t>Tech</a:t>
              </a:r>
              <a:endParaRPr b="1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CH"/>
                <a:t>Benjamin Arfa</a:t>
              </a:r>
              <a:endParaRPr/>
            </a:p>
          </p:txBody>
        </p:sp>
      </p:grpSp>
      <p:sp>
        <p:nvSpPr>
          <p:cNvPr id="113" name="Google Shape;113;p20"/>
          <p:cNvSpPr txBox="1"/>
          <p:nvPr/>
        </p:nvSpPr>
        <p:spPr>
          <a:xfrm>
            <a:off x="9870725" y="6177727"/>
            <a:ext cx="164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/>
              <a:t>Tech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Leo Sinelnikov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5035850" y="6233902"/>
            <a:ext cx="164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/>
              <a:t>Juristin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CH"/>
              <a:t>Lirjona Dërmaku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69725" y="4159477"/>
            <a:ext cx="2048400" cy="2023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6" name="Google Shape;116;p20" title="WhatsApp Image 2026-04-27 at 9.40.11 AM.jpeg"/>
          <p:cNvPicPr preferRelativeResize="0"/>
          <p:nvPr/>
        </p:nvPicPr>
        <p:blipFill rotWithShape="1">
          <a:blip r:embed="rId9">
            <a:alphaModFix/>
          </a:blip>
          <a:srcRect b="26129" l="0" r="0" t="7856"/>
          <a:stretch/>
        </p:blipFill>
        <p:spPr>
          <a:xfrm>
            <a:off x="4834850" y="4147025"/>
            <a:ext cx="2048400" cy="2048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title="Screenshot 2026-04-27 at 12.17.23.png"/>
          <p:cNvPicPr preferRelativeResize="0"/>
          <p:nvPr/>
        </p:nvPicPr>
        <p:blipFill rotWithShape="1">
          <a:blip r:embed="rId3">
            <a:alphaModFix/>
          </a:blip>
          <a:srcRect b="41531" l="0" r="0" t="0"/>
          <a:stretch/>
        </p:blipFill>
        <p:spPr>
          <a:xfrm>
            <a:off x="8616186" y="172350"/>
            <a:ext cx="2457225" cy="249809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748800" y="1188000"/>
            <a:ext cx="10514400" cy="46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/>
              <a:t>WHY?</a:t>
            </a:r>
            <a:endParaRPr b="1" sz="2800"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0836" y="3241825"/>
            <a:ext cx="1067925" cy="97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1"/>
          <p:cNvCxnSpPr>
            <a:stCxn id="121" idx="2"/>
            <a:endCxn id="123" idx="0"/>
          </p:cNvCxnSpPr>
          <p:nvPr/>
        </p:nvCxnSpPr>
        <p:spPr>
          <a:xfrm>
            <a:off x="9844798" y="2670440"/>
            <a:ext cx="0" cy="57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5" name="Google Shape;12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1388" y="4738250"/>
            <a:ext cx="4126824" cy="1936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26" name="Google Shape;126;p21"/>
          <p:cNvCxnSpPr>
            <a:stCxn id="123" idx="2"/>
            <a:endCxn id="125" idx="0"/>
          </p:cNvCxnSpPr>
          <p:nvPr/>
        </p:nvCxnSpPr>
        <p:spPr>
          <a:xfrm>
            <a:off x="9844798" y="4217150"/>
            <a:ext cx="0" cy="52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1"/>
          <p:cNvSpPr txBox="1"/>
          <p:nvPr/>
        </p:nvSpPr>
        <p:spPr>
          <a:xfrm>
            <a:off x="10378749" y="3443800"/>
            <a:ext cx="670500" cy="52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15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$$$</a:t>
            </a:r>
            <a:endParaRPr b="1" sz="215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 txBox="1"/>
          <p:nvPr>
            <p:ph idx="3" type="body"/>
          </p:nvPr>
        </p:nvSpPr>
        <p:spPr>
          <a:xfrm>
            <a:off x="749150" y="2160000"/>
            <a:ext cx="7700100" cy="451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/>
              <a:t>Humans trying to understand and apply laws: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de-CH"/>
              <a:t>Rules and logic </a:t>
            </a:r>
            <a:r>
              <a:rPr lang="de-CH"/>
              <a:t>on a specific topic </a:t>
            </a:r>
            <a:r>
              <a:rPr b="1" lang="de-CH"/>
              <a:t>are</a:t>
            </a:r>
            <a:r>
              <a:rPr lang="de-CH"/>
              <a:t> </a:t>
            </a:r>
            <a:r>
              <a:rPr b="1" lang="de-CH"/>
              <a:t>scattered</a:t>
            </a:r>
            <a:r>
              <a:rPr lang="de-CH"/>
              <a:t> around different legal texts: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Law, ordinance, jurisprudence, explanatory texts, doctrines, legal commentaries, …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CH"/>
              <a:t>References and definitions sometimes only implicit.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de-CH"/>
              <a:t>Federal + multiple cantonal legal systems</a:t>
            </a:r>
            <a:r>
              <a:rPr lang="de-CH"/>
              <a:t> (federalism)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de-CH"/>
              <a:t>Laws</a:t>
            </a:r>
            <a:r>
              <a:rPr lang="de-CH"/>
              <a:t> are (constantly) </a:t>
            </a:r>
            <a:r>
              <a:rPr b="1" lang="de-CH"/>
              <a:t>changing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/>
              <a:t>Digital system implementing (legal) rules: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de-CH"/>
              <a:t>Needs experts </a:t>
            </a:r>
            <a:r>
              <a:rPr lang="de-CH"/>
              <a:t>to translate legal texts into code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de-CH"/>
              <a:t>Expensive</a:t>
            </a:r>
            <a:r>
              <a:rPr lang="de-CH"/>
              <a:t>, hard to validate, decentralized implementations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CH"/>
              <a:t>Rules </a:t>
            </a:r>
            <a:r>
              <a:rPr b="1" lang="de-CH"/>
              <a:t>not</a:t>
            </a:r>
            <a:r>
              <a:rPr lang="de-CH"/>
              <a:t> </a:t>
            </a:r>
            <a:r>
              <a:rPr b="1" lang="de-CH"/>
              <a:t>implemented</a:t>
            </a:r>
            <a:r>
              <a:rPr lang="de-CH"/>
              <a:t> </a:t>
            </a:r>
            <a:r>
              <a:rPr b="1" lang="de-CH"/>
              <a:t>using</a:t>
            </a:r>
            <a:r>
              <a:rPr lang="de-CH"/>
              <a:t> </a:t>
            </a:r>
            <a:r>
              <a:rPr b="1" lang="de-CH"/>
              <a:t>standards</a:t>
            </a:r>
            <a:br>
              <a:rPr lang="de-CH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100"/>
              <a:t>→ Rules of law are not easily and ubiquitous understandable and applicable for the public.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749150" y="1566600"/>
            <a:ext cx="10749600" cy="593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000"/>
              <a:t>Rules of law are hard to understand and expensive to implement</a:t>
            </a:r>
            <a:endParaRPr b="1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749160" y="1728000"/>
            <a:ext cx="10514400" cy="30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Law as Code as a solution?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2"/>
          <p:cNvSpPr txBox="1"/>
          <p:nvPr>
            <p:ph idx="2" type="body"/>
          </p:nvPr>
        </p:nvSpPr>
        <p:spPr>
          <a:xfrm>
            <a:off x="748800" y="1188000"/>
            <a:ext cx="10514400" cy="46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WHY Law as Code?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2"/>
          <p:cNvSpPr txBox="1"/>
          <p:nvPr>
            <p:ph idx="3" type="body"/>
          </p:nvPr>
        </p:nvSpPr>
        <p:spPr>
          <a:xfrm>
            <a:off x="749160" y="2160000"/>
            <a:ext cx="10514400" cy="415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>
                <a:latin typeface="Roboto"/>
                <a:ea typeface="Roboto"/>
                <a:cs typeface="Roboto"/>
                <a:sym typeface="Roboto"/>
              </a:rPr>
              <a:t>What if …?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de-CH">
                <a:latin typeface="Roboto"/>
                <a:ea typeface="Roboto"/>
                <a:cs typeface="Roboto"/>
                <a:sym typeface="Roboto"/>
              </a:rPr>
              <a:t>… </a:t>
            </a:r>
            <a:r>
              <a:rPr b="1" lang="de-CH">
                <a:latin typeface="Roboto"/>
                <a:ea typeface="Roboto"/>
                <a:cs typeface="Roboto"/>
                <a:sym typeface="Roboto"/>
              </a:rPr>
              <a:t>anybody</a:t>
            </a:r>
            <a:r>
              <a:rPr b="1" lang="de-CH">
                <a:latin typeface="Roboto"/>
                <a:ea typeface="Roboto"/>
                <a:cs typeface="Roboto"/>
                <a:sym typeface="Roboto"/>
              </a:rPr>
              <a:t> could easily describe their specific situation and will easily find out what rights and benefits apply?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-"/>
            </a:pPr>
            <a:r>
              <a:rPr lang="de-CH">
                <a:latin typeface="Roboto"/>
                <a:ea typeface="Roboto"/>
                <a:cs typeface="Roboto"/>
                <a:sym typeface="Roboto"/>
              </a:rPr>
              <a:t>… </a:t>
            </a:r>
            <a:r>
              <a:rPr b="1" lang="de-CH">
                <a:latin typeface="Roboto"/>
                <a:ea typeface="Roboto"/>
                <a:cs typeface="Roboto"/>
                <a:sym typeface="Roboto"/>
              </a:rPr>
              <a:t>administrations can easily and cost effectively build systems with executable and validatable legal rules inside</a:t>
            </a:r>
            <a:r>
              <a:rPr lang="de-CH">
                <a:latin typeface="Roboto"/>
                <a:ea typeface="Roboto"/>
                <a:cs typeface="Roboto"/>
                <a:sym typeface="Roboto"/>
              </a:rPr>
              <a:t>, and provide more systems to the public to check the application of complicated laws to their specific situation?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200">
                <a:latin typeface="Roboto"/>
                <a:ea typeface="Roboto"/>
                <a:cs typeface="Roboto"/>
                <a:sym typeface="Roboto"/>
              </a:rPr>
              <a:t>Solution</a:t>
            </a:r>
            <a:r>
              <a:rPr lang="de-CH" sz="2200">
                <a:latin typeface="Roboto"/>
                <a:ea typeface="Roboto"/>
                <a:cs typeface="Roboto"/>
                <a:sym typeface="Roboto"/>
              </a:rPr>
              <a:t>: Law as Code or Rules as Code (RaC)!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br>
              <a:rPr b="1" lang="de-CH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de-CH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Definition :</a:t>
            </a:r>
            <a:r>
              <a:rPr b="1" lang="de-CH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de-CH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Law as Code (LaC) or Rules as Code (RaC) is </a:t>
            </a:r>
            <a:r>
              <a:rPr b="1" i="1" lang="de-CH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idea of expressing or translating existing legislation, regulation or policy into machine-executable code</a:t>
            </a:r>
            <a:r>
              <a:rPr i="1" lang="de-CH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enabling automated and consistent application of legal rules.</a:t>
            </a:r>
            <a:endParaRPr i="1" sz="19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>
                <a:latin typeface="Roboto"/>
                <a:ea typeface="Roboto"/>
                <a:cs typeface="Roboto"/>
                <a:sym typeface="Roboto"/>
              </a:rPr>
              <a:t>… by the way – Rules as Code already exists everywhere …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749160" y="1728000"/>
            <a:ext cx="10514400" cy="30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Benefits of 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Law as Code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3"/>
          <p:cNvSpPr txBox="1"/>
          <p:nvPr>
            <p:ph idx="2" type="body"/>
          </p:nvPr>
        </p:nvSpPr>
        <p:spPr>
          <a:xfrm>
            <a:off x="748800" y="1188000"/>
            <a:ext cx="10514400" cy="46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WHY Law as Code?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3"/>
          <p:cNvSpPr txBox="1"/>
          <p:nvPr>
            <p:ph idx="3" type="body"/>
          </p:nvPr>
        </p:nvSpPr>
        <p:spPr>
          <a:xfrm>
            <a:off x="749160" y="2160000"/>
            <a:ext cx="10514400" cy="415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Traceability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 of logic to the articles.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Equal treatment 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at scale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Impact assessment before enactment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: Thousands of real-world cases can be simulated before parliament votes. Who gains? Who loses? Where are the unintended hardships?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Low-threshold access to rights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 e. g. 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public online …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: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lphaLcPeriod"/>
            </a:pP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… navigators → Which laws apply?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lphaLcPeriod"/>
            </a:pP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… decision prognostics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Is it worth to ask/apply for X?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lphaLcPeriod"/>
            </a:pP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… calculators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 → What is my financial duty or entitlement?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lphaLcPeriod"/>
            </a:pP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… compliance checks → Did I/my company follow the rules?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</a:pPr>
            <a:r>
              <a:rPr b="1" lang="de-CH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Challenge Hypothesis / </a:t>
            </a: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endParaRPr b="1" sz="2800" u="none" strike="noStrike">
              <a:solidFill>
                <a:srgbClr val="000000"/>
              </a:solidFill>
            </a:endParaRPr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749160" y="2160000"/>
            <a:ext cx="10514520" cy="4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we use</a:t>
            </a:r>
            <a:r>
              <a:rPr b="0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state-of-the-art </a:t>
            </a: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 Language Models</a:t>
            </a:r>
            <a:r>
              <a:rPr b="0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(LLMs) to </a:t>
            </a:r>
            <a:r>
              <a:rPr b="1" lang="de-CH" sz="2800" u="sng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automatically</a:t>
            </a:r>
            <a:r>
              <a:rPr b="0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r>
              <a:rPr b="0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legal</a:t>
            </a:r>
            <a:r>
              <a:rPr b="0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rules</a:t>
            </a:r>
            <a:r>
              <a:rPr b="0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natural language Swiss law i</a:t>
            </a: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nto verifiable, machine-executable code?</a:t>
            </a:r>
            <a:endParaRPr b="1" sz="2800" u="none" strike="noStrike">
              <a:solidFill>
                <a:srgbClr val="000000"/>
              </a:solidFill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454" y="3771726"/>
            <a:ext cx="9075926" cy="197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/>
          <p:nvPr/>
        </p:nvSpPr>
        <p:spPr>
          <a:xfrm>
            <a:off x="10544375" y="3115875"/>
            <a:ext cx="1293600" cy="466800"/>
          </a:xfrm>
          <a:prstGeom prst="wedgeRoundRectCallout">
            <a:avLst>
              <a:gd fmla="val -72047" name="adj1"/>
              <a:gd fmla="val 14974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CH">
                <a:latin typeface="Roboto"/>
                <a:ea typeface="Roboto"/>
                <a:cs typeface="Roboto"/>
                <a:sym typeface="Roboto"/>
              </a:rPr>
              <a:t>deterministic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6766550" y="5844000"/>
            <a:ext cx="1293600" cy="466800"/>
          </a:xfrm>
          <a:prstGeom prst="wedgeRoundRectCallout">
            <a:avLst>
              <a:gd fmla="val -64883" name="adj1"/>
              <a:gd fmla="val -13381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CH">
                <a:latin typeface="Roboto"/>
                <a:ea typeface="Roboto"/>
                <a:cs typeface="Roboto"/>
                <a:sym typeface="Roboto"/>
              </a:rPr>
              <a:t>propabilistic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idx="2" type="body"/>
          </p:nvPr>
        </p:nvSpPr>
        <p:spPr>
          <a:xfrm>
            <a:off x="748800" y="1188000"/>
            <a:ext cx="10514400" cy="46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Our Challenge Objectives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5"/>
          <p:cNvSpPr txBox="1"/>
          <p:nvPr>
            <p:ph idx="3" type="body"/>
          </p:nvPr>
        </p:nvSpPr>
        <p:spPr>
          <a:xfrm>
            <a:off x="749160" y="2160000"/>
            <a:ext cx="10514400" cy="415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❏"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Generate code</a:t>
            </a:r>
            <a:r>
              <a:rPr lang="de-CH" sz="2800">
                <a:latin typeface="Roboto"/>
                <a:ea typeface="Roboto"/>
                <a:cs typeface="Roboto"/>
                <a:sym typeface="Roboto"/>
              </a:rPr>
              <a:t> and test data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❏"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Validate code</a:t>
            </a:r>
            <a:r>
              <a:rPr lang="de-CH" sz="2800">
                <a:latin typeface="Roboto"/>
                <a:ea typeface="Roboto"/>
                <a:cs typeface="Roboto"/>
                <a:sym typeface="Roboto"/>
              </a:rPr>
              <a:t> by legal experts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❏"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Execute code</a:t>
            </a:r>
            <a:r>
              <a:rPr lang="de-CH" sz="2800">
                <a:latin typeface="Roboto"/>
                <a:ea typeface="Roboto"/>
                <a:cs typeface="Roboto"/>
                <a:sym typeface="Roboto"/>
              </a:rPr>
              <a:t> with test data and validate against human coded application (webform from canton Berne)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48800" y="1188000"/>
            <a:ext cx="10514520" cy="46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</a:pP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Selected Law Texts for our </a:t>
            </a:r>
            <a:r>
              <a:rPr b="1" lang="de-CH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“litmus test”</a:t>
            </a:r>
            <a:endParaRPr b="1" sz="2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749150" y="2160000"/>
            <a:ext cx="6280800" cy="4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pro</a:t>
            </a:r>
            <a:r>
              <a:rPr lang="de-CH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our hypothesis, we choose the following </a:t>
            </a:r>
            <a:r>
              <a:rPr lang="de-CH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law texts:</a:t>
            </a: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ABG (Ausbildungsbeiträge Bern — Cantonal)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-"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ABG Art. 1-16 — Stipendium Eligibility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-"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ABG Art. 10/16 — Stipendium Amount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AHVG (Federal Old-Age Insurance)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-"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Art. 3 — AHV Insurance Obligation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-"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Art. 5 — AHV Employee Contribution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-"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Art. 10 — AHV Self-Employed Contribution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 (</a:t>
            </a:r>
            <a:r>
              <a:rPr b="1" lang="de-CH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Obligation Recht</a:t>
            </a:r>
            <a:r>
              <a:rPr b="1"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-"/>
            </a:pPr>
            <a:r>
              <a:rPr lang="de-CH" sz="19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Art. 41 — Tort Liability</a:t>
            </a:r>
            <a:endParaRPr sz="19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950" y="157162"/>
            <a:ext cx="4687149" cy="6543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6" name="Google Shape;16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0869" y="3797700"/>
            <a:ext cx="2416026" cy="2903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075" y="131238"/>
            <a:ext cx="9213926" cy="659552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>
            <p:ph idx="2" type="body"/>
          </p:nvPr>
        </p:nvSpPr>
        <p:spPr>
          <a:xfrm>
            <a:off x="748775" y="3659675"/>
            <a:ext cx="5364900" cy="2911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The Process:</a:t>
            </a:r>
            <a:br>
              <a:rPr b="1" lang="de-CH" sz="2800">
                <a:latin typeface="Roboto"/>
                <a:ea typeface="Roboto"/>
                <a:cs typeface="Roboto"/>
                <a:sym typeface="Roboto"/>
              </a:rPr>
            </a:b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Code generation and validation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idx="2" type="body"/>
          </p:nvPr>
        </p:nvSpPr>
        <p:spPr>
          <a:xfrm>
            <a:off x="748800" y="1188000"/>
            <a:ext cx="11223900" cy="74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The Process – Phase 2: Execution and application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800" y="2612452"/>
            <a:ext cx="11223900" cy="3973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49160" y="1188000"/>
            <a:ext cx="10514400" cy="47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Results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9"/>
          <p:cNvSpPr txBox="1"/>
          <p:nvPr>
            <p:ph idx="2" type="body"/>
          </p:nvPr>
        </p:nvSpPr>
        <p:spPr>
          <a:xfrm>
            <a:off x="749160" y="1728000"/>
            <a:ext cx="10514400" cy="458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>
            <p:ph type="title"/>
          </p:nvPr>
        </p:nvSpPr>
        <p:spPr>
          <a:xfrm>
            <a:off x="609480" y="273600"/>
            <a:ext cx="10971600" cy="114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275" y="3639125"/>
            <a:ext cx="5668273" cy="26716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150" y="1728000"/>
            <a:ext cx="4767766" cy="2671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88" name="Google Shape;188;p29"/>
          <p:cNvCxnSpPr>
            <a:stCxn id="187" idx="2"/>
            <a:endCxn id="186" idx="1"/>
          </p:cNvCxnSpPr>
          <p:nvPr/>
        </p:nvCxnSpPr>
        <p:spPr>
          <a:xfrm>
            <a:off x="3133033" y="4399674"/>
            <a:ext cx="2462100" cy="57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9" name="Google Shape;18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9750" y="4540775"/>
            <a:ext cx="938775" cy="8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49160" y="1188000"/>
            <a:ext cx="10514400" cy="47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Results: Output 1 and DEMO 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0"/>
          <p:cNvSpPr txBox="1"/>
          <p:nvPr>
            <p:ph type="title"/>
          </p:nvPr>
        </p:nvSpPr>
        <p:spPr>
          <a:xfrm>
            <a:off x="609480" y="273600"/>
            <a:ext cx="10971600" cy="114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19500"/>
            <a:ext cx="5221699" cy="48860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7" name="Google Shape;1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6499" y="1819500"/>
            <a:ext cx="3215883" cy="48861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8" name="Google Shape;19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4781" y="1819500"/>
            <a:ext cx="3144818" cy="200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94781" y="3897024"/>
            <a:ext cx="2715118" cy="27312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idx="2" type="body"/>
          </p:nvPr>
        </p:nvSpPr>
        <p:spPr>
          <a:xfrm>
            <a:off x="748800" y="1188000"/>
            <a:ext cx="10514400" cy="46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Our primary Objectives - ACHIEVED!!! 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1"/>
          <p:cNvSpPr txBox="1"/>
          <p:nvPr>
            <p:ph idx="3" type="body"/>
          </p:nvPr>
        </p:nvSpPr>
        <p:spPr>
          <a:xfrm>
            <a:off x="749160" y="2160000"/>
            <a:ext cx="10514400" cy="415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❏"/>
            </a:pPr>
            <a:r>
              <a:rPr lang="de-CH" sz="2300">
                <a:latin typeface="Roboto"/>
                <a:ea typeface="Roboto"/>
                <a:cs typeface="Roboto"/>
                <a:sym typeface="Roboto"/>
              </a:rPr>
              <a:t>Generate code and test data 	</a:t>
            </a:r>
            <a:r>
              <a:rPr lang="de-CH" sz="3700">
                <a:latin typeface="Roboto"/>
                <a:ea typeface="Roboto"/>
                <a:cs typeface="Roboto"/>
                <a:sym typeface="Roboto"/>
              </a:rPr>
              <a:t>✅</a:t>
            </a:r>
            <a:endParaRPr sz="37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❏"/>
            </a:pPr>
            <a:r>
              <a:rPr lang="de-CH" sz="2300">
                <a:latin typeface="Roboto"/>
                <a:ea typeface="Roboto"/>
                <a:cs typeface="Roboto"/>
                <a:sym typeface="Roboto"/>
              </a:rPr>
              <a:t>Validate code by legal experts	</a:t>
            </a:r>
            <a:r>
              <a:rPr lang="de-CH" sz="3700">
                <a:latin typeface="Roboto"/>
                <a:ea typeface="Roboto"/>
                <a:cs typeface="Roboto"/>
                <a:sym typeface="Roboto"/>
              </a:rPr>
              <a:t>✅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❏"/>
            </a:pPr>
            <a:r>
              <a:rPr lang="de-CH" sz="2300">
                <a:latin typeface="Roboto"/>
                <a:ea typeface="Roboto"/>
                <a:cs typeface="Roboto"/>
                <a:sym typeface="Roboto"/>
              </a:rPr>
              <a:t>Execute code with test data and validate against human coded application</a:t>
            </a:r>
            <a:r>
              <a:rPr lang="de-CH" sz="2300">
                <a:latin typeface="Roboto"/>
                <a:ea typeface="Roboto"/>
                <a:cs typeface="Roboto"/>
                <a:sym typeface="Roboto"/>
              </a:rPr>
              <a:t> (webform from canton Berne)</a:t>
            </a:r>
            <a:r>
              <a:rPr lang="de-CH" sz="2300">
                <a:latin typeface="Roboto"/>
                <a:ea typeface="Roboto"/>
                <a:cs typeface="Roboto"/>
                <a:sym typeface="Roboto"/>
              </a:rPr>
              <a:t> 	</a:t>
            </a:r>
            <a:r>
              <a:rPr lang="de-CH" sz="3400">
                <a:latin typeface="Roboto"/>
                <a:ea typeface="Roboto"/>
                <a:cs typeface="Roboto"/>
                <a:sym typeface="Roboto"/>
              </a:rPr>
              <a:t>✅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31" title="logo.jpeg"/>
          <p:cNvPicPr preferRelativeResize="0"/>
          <p:nvPr/>
        </p:nvPicPr>
        <p:blipFill rotWithShape="1">
          <a:blip r:embed="rId3">
            <a:alphaModFix/>
          </a:blip>
          <a:srcRect b="30671" l="15104" r="11861" t="24046"/>
          <a:stretch/>
        </p:blipFill>
        <p:spPr>
          <a:xfrm>
            <a:off x="7149125" y="3699100"/>
            <a:ext cx="4786125" cy="29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 title="Screenshot 2026-04-27 at 14.18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843" y="1667150"/>
            <a:ext cx="8542321" cy="49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749160" y="1188000"/>
            <a:ext cx="10514520" cy="4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</a:pPr>
            <a:r>
              <a:rPr b="1" lang="de-CH" sz="2800" u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 2:</a:t>
            </a:r>
            <a:r>
              <a:rPr b="1" lang="de-CH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Chatbot Interface to navigate Swiss law</a:t>
            </a:r>
            <a:endParaRPr b="1" sz="2800" u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3" title="Screen Recording 2026-04-27 at 13.02.2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8413" y="1155475"/>
            <a:ext cx="7475176" cy="56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749160" y="1188000"/>
            <a:ext cx="10514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</a:pPr>
            <a:r>
              <a:rPr b="1" lang="de-CH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749160" y="1188000"/>
            <a:ext cx="10514400" cy="47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 txBox="1"/>
          <p:nvPr>
            <p:ph idx="2" type="body"/>
          </p:nvPr>
        </p:nvSpPr>
        <p:spPr>
          <a:xfrm>
            <a:off x="749160" y="1728000"/>
            <a:ext cx="10514400" cy="458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4"/>
          <p:cNvSpPr txBox="1"/>
          <p:nvPr>
            <p:ph type="title"/>
          </p:nvPr>
        </p:nvSpPr>
        <p:spPr>
          <a:xfrm>
            <a:off x="609480" y="273600"/>
            <a:ext cx="10971600" cy="114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4" title="Screenshot 2026-04-27 at 09.3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37" y="162921"/>
            <a:ext cx="6066026" cy="65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4" title="Screenshot 2026-04-27 at 09.57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3049" y="162912"/>
            <a:ext cx="5856175" cy="653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749160" y="1728000"/>
            <a:ext cx="10514400" cy="30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What can be done with automated generation of Law as Code?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5"/>
          <p:cNvSpPr txBox="1"/>
          <p:nvPr>
            <p:ph idx="2" type="body"/>
          </p:nvPr>
        </p:nvSpPr>
        <p:spPr>
          <a:xfrm>
            <a:off x="748800" y="1188000"/>
            <a:ext cx="10514400" cy="466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2800">
                <a:latin typeface="Roboto"/>
                <a:ea typeface="Roboto"/>
                <a:cs typeface="Roboto"/>
                <a:sym typeface="Roboto"/>
              </a:rPr>
              <a:t>Outlook and vision for the future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5"/>
          <p:cNvSpPr txBox="1"/>
          <p:nvPr>
            <p:ph idx="3" type="body"/>
          </p:nvPr>
        </p:nvSpPr>
        <p:spPr>
          <a:xfrm>
            <a:off x="749160" y="2160000"/>
            <a:ext cx="10514400" cy="415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For applicants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: Replace forms with interactive chatbot-like dialogue/interview: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People could easily describe their specific situation and will easily find out what rights and benefits apply to them!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Administrations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 can easily and cheaply build systems with legal rules inside, to help people to apply them to their situation?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For people with legal questions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: Apply to less “algorithmic” laws to generate “Code of thinking” to be executed by human brains → “Art. 41 OR”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b="1" lang="de-CH" sz="2000">
                <a:latin typeface="Roboto"/>
                <a:ea typeface="Roboto"/>
                <a:cs typeface="Roboto"/>
                <a:sym typeface="Roboto"/>
              </a:rPr>
              <a:t>or policy makers</a:t>
            </a:r>
            <a:r>
              <a:rPr lang="de-CH" sz="2000">
                <a:latin typeface="Roboto"/>
                <a:ea typeface="Roboto"/>
                <a:cs typeface="Roboto"/>
                <a:sym typeface="Roboto"/>
              </a:rPr>
              <a:t>: Run large-scale simulations with virtual people to evaluate real-world outcomes (based on statistics) vs. intended outcomes (based on generated simulation data)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5"/>
          <p:cNvSpPr txBox="1"/>
          <p:nvPr>
            <p:ph type="title"/>
          </p:nvPr>
        </p:nvSpPr>
        <p:spPr>
          <a:xfrm>
            <a:off x="609480" y="273600"/>
            <a:ext cx="10971600" cy="114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5" title="logo.jpeg"/>
          <p:cNvPicPr preferRelativeResize="0"/>
          <p:nvPr/>
        </p:nvPicPr>
        <p:blipFill rotWithShape="1">
          <a:blip r:embed="rId3">
            <a:alphaModFix/>
          </a:blip>
          <a:srcRect b="30671" l="15104" r="11861" t="24046"/>
          <a:stretch/>
        </p:blipFill>
        <p:spPr>
          <a:xfrm>
            <a:off x="8974600" y="273600"/>
            <a:ext cx="2606474" cy="16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6" title="logo.jpeg"/>
          <p:cNvPicPr preferRelativeResize="0"/>
          <p:nvPr/>
        </p:nvPicPr>
        <p:blipFill rotWithShape="1">
          <a:blip r:embed="rId3">
            <a:alphaModFix/>
          </a:blip>
          <a:srcRect b="30671" l="15104" r="11861" t="24046"/>
          <a:stretch/>
        </p:blipFill>
        <p:spPr>
          <a:xfrm>
            <a:off x="3761775" y="1945212"/>
            <a:ext cx="4786125" cy="29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6"/>
          <p:cNvSpPr txBox="1"/>
          <p:nvPr/>
        </p:nvSpPr>
        <p:spPr>
          <a:xfrm>
            <a:off x="6938200" y="3029250"/>
            <a:ext cx="80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CH" sz="1600"/>
              <a:t>LAW AS </a:t>
            </a:r>
            <a:r>
              <a:rPr b="1" lang="de-CH" sz="1600"/>
              <a:t>CODE </a:t>
            </a:r>
            <a:endParaRPr b="1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eJustice">
      <a:dk1>
        <a:srgbClr val="212121"/>
      </a:dk1>
      <a:lt1>
        <a:srgbClr val="FFFFFF"/>
      </a:lt1>
      <a:dk2>
        <a:srgbClr val="38B07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